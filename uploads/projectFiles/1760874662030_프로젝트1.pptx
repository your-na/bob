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0680700" cy="7556500"/>
  <p:notesSz cx="10680700" cy="7556500"/>
  <p:defaultTextStyle>
    <a:defPPr>
      <a:defRPr kern="0"/>
    </a:def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-1536" y="-84"/>
      </p:cViewPr>
      <p:guideLst>
        <p:guide orient="horz" pos="2880"/>
        <p:guide pos="21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1052" y="2342515"/>
            <a:ext cx="9078595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035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0560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035" y="302260"/>
            <a:ext cx="961263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035" y="1737995"/>
            <a:ext cx="961263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1438" y="7027545"/>
            <a:ext cx="341782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035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0104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hyperlink" Target="https://www.police.go.kr/component/file/ND_fileDownload.do?q_fileId=5eb90d23-c0f0-4c0f-b568-9012ce40e1c1&amp;q_fileSn=155902&amp;utm_source=chatgpt.com" TargetMode="External" /><Relationship Id="rId3" Type="http://schemas.openxmlformats.org/officeDocument/2006/relationships/hyperlink" Target="https://thehackernews.com/2022/11/dropbox-breach-hackers-unauthorizedly.html?utm_source=chatgpt.com" TargetMode="External" /><Relationship Id="rId4" Type="http://schemas.openxmlformats.org/officeDocument/2006/relationships/hyperlink" Target="https://phum.co.kr/ransomware-h1/?utm_source=chatgpt.com" TargetMode="External" /><Relationship Id="rId5" Type="http://schemas.openxmlformats.org/officeDocument/2006/relationships/hyperlink" Target="https://www.bleepingcomputer.com/news/security/hyundai-motor-europe-hit-by-black-basta-ransomware-attack/?utm_source=chatgpt.com" TargetMode="External" /><Relationship Id="rId6" Type="http://schemas.openxmlformats.org/officeDocument/2006/relationships/hyperlink" Target="https://www.fis.kr/ko/major_biz/cyber_safety_oper/attack_info/notice_issue?articleSeq=3318&amp;utm_source=chatgpt.com" TargetMode="External" /><Relationship Id="rId7" Type="http://schemas.openxmlformats.org/officeDocument/2006/relationships/hyperlink" Target="https://www.reuters.com/sustainability/boards-policy-regulation/sk-telecom-shares-plunge-after-data-breach-due-cyberattack-2025-04-28/?utm_source=chatgpt.com" TargetMode="External"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hyperlink" Target="https://www.boannews.com/media/view.asp?idx=92421" TargetMode="External" /><Relationship Id="rId3" Type="http://schemas.openxmlformats.org/officeDocument/2006/relationships/hyperlink" Target="https://therecord.media/hackers-leak-full-ea-data-after-failed-extortion-attempt" TargetMode="External" /><Relationship Id="rId4" Type="http://schemas.openxmlformats.org/officeDocument/2006/relationships/hyperlink" Target="https://www.bleepingcomputer.com/news/security/activision-confirms-data-breach-exposing-employee-and-game-info/" TargetMode="External" /><Relationship Id="rId5" Type="http://schemas.openxmlformats.org/officeDocument/2006/relationships/hyperlink" Target="https://www.securityweek.com/japanese-video-game-publisher-bandai-namco-confirms-cyberattack/" TargetMode="External" /><Relationship Id="rId6" Type="http://schemas.openxmlformats.org/officeDocument/2006/relationships/hyperlink" Target="https://www.bleepingcomputer.com/news/security/hackers-auction-alleged-source-code-for-league-of-legends/" TargetMode="External"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hyperlink" Target="https://www.bleepingcomputer.com/news/security/insomniac-games-alerts-employees-hit-by-ransomware-data-breach/" TargetMode="External" /><Relationship Id="rId3" Type="http://schemas.openxmlformats.org/officeDocument/2006/relationships/hyperlink" Target="https://help.roll20.net/hc/en-us/articles/24620372778775-Data-Security-Incident-July-3rd-2024-FAQ" TargetMode="External" /><Relationship Id="rId4" Type="http://schemas.openxmlformats.org/officeDocument/2006/relationships/hyperlink" Target="https://group.kadokawa.co.jp/information/media-download/1345/840603bf0659e8ce/" TargetMode="External" /><Relationship Id="rId5" Type="http://schemas.openxmlformats.org/officeDocument/2006/relationships/hyperlink" Target="https://www.bleepingcomputer.com/news/security/pokemon-dev-game-freak-confirms-breach-after-stolen-data-leaks-online/" TargetMode="External" /><Relationship Id="rId6" Type="http://schemas.openxmlformats.org/officeDocument/2006/relationships/hyperlink" Target="https://wemix.com/ko/news/play-bridge-exploit-and-the-foundations-responses-0846127998ba" TargetMode="External"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 idx="0"/>
          </p:nvPr>
        </p:nvSpPr>
        <p:spPr>
          <a:xfrm>
            <a:off x="801052" y="2342515"/>
            <a:ext cx="9078595" cy="905510"/>
          </a:xfrm>
        </p:spPr>
        <p:txBody>
          <a:bodyPr/>
          <a:p>
            <a:pPr lvl="0" algn="ctr">
              <a:defRPr/>
            </a:pPr>
            <a:r>
              <a:rPr lang="ko-KR" altLang="en-US" sz="6000"/>
              <a:t>보안사고 사례 조사</a:t>
            </a:r>
            <a:endParaRPr lang="ko-KR" altLang="en-US" sz="600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3" y="4231640"/>
            <a:ext cx="7476492" cy="1369060"/>
          </a:xfrm>
        </p:spPr>
        <p:txBody>
          <a:bodyPr/>
          <a:p>
            <a:pPr lvl="0" algn="ctr">
              <a:defRPr/>
            </a:pPr>
            <a:r>
              <a:rPr lang="en-US" altLang="ko-KR" sz="3000"/>
              <a:t>2133003</a:t>
            </a:r>
            <a:r>
              <a:rPr lang="ko-KR" altLang="en-US" sz="3000"/>
              <a:t> 주인재 </a:t>
            </a:r>
            <a:endParaRPr lang="ko-KR" altLang="en-US" sz="3000"/>
          </a:p>
          <a:p>
            <a:pPr lvl="0" algn="ctr">
              <a:defRPr/>
            </a:pPr>
            <a:r>
              <a:rPr lang="en-US" altLang="ko-KR" sz="3000"/>
              <a:t>2133038</a:t>
            </a:r>
            <a:r>
              <a:rPr lang="ko-KR" altLang="en-US" sz="3000"/>
              <a:t> 박승한</a:t>
            </a:r>
            <a:endParaRPr lang="ko-KR" altLang="en-US" sz="3000"/>
          </a:p>
          <a:p>
            <a:pPr lvl="0" algn="ctr">
              <a:defRPr/>
            </a:pPr>
            <a:r>
              <a:rPr lang="en-US" altLang="ko-KR" sz="3000"/>
              <a:t>2333072</a:t>
            </a:r>
            <a:r>
              <a:rPr lang="ko-KR" altLang="en-US" sz="3000"/>
              <a:t> 서유진</a:t>
            </a:r>
            <a:endParaRPr lang="ko-KR" altLang="en-US" sz="3000"/>
          </a:p>
        </p:txBody>
      </p:sp>
    </p:spTree>
    <p:extLst>
      <p:ext uri="{BB962C8B-B14F-4D97-AF65-F5344CB8AC3E}">
        <p14:creationId xmlns:p14="http://schemas.microsoft.com/office/powerpoint/2010/main" val="772924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91052" y="488181"/>
          <a:ext cx="10315575" cy="5433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1525"/>
                <a:gridCol w="1346835"/>
                <a:gridCol w="1504950"/>
                <a:gridCol w="3425824"/>
                <a:gridCol w="3249295"/>
              </a:tblGrid>
              <a:tr h="602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시기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기관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유형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889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 spc="-20">
                          <a:latin typeface="굴림"/>
                          <a:cs typeface="굴림"/>
                        </a:rPr>
                        <a:t>피해규모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177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관련문서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/</a:t>
                      </a:r>
                      <a:r>
                        <a:rPr dirty="0" sz="1000" spc="15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비고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  <a:tr h="805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2021년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57785" marR="48895" indent="-635">
                        <a:lnSpc>
                          <a:spcPts val="1610"/>
                        </a:lnSpc>
                        <a:spcBef>
                          <a:spcPts val="105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(발견·수사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발표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2023)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서울대학교병원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628650" marR="114300" indent="-500380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내부망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침해·개인정보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유출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27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11430">
                        <a:lnSpc>
                          <a:spcPct val="100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약</a:t>
                      </a:r>
                      <a:r>
                        <a:rPr dirty="0" sz="1000" spc="17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b="1">
                          <a:latin typeface="굴림"/>
                          <a:cs typeface="굴림"/>
                        </a:rPr>
                        <a:t>830,000명(환자·직원)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개인정보</a:t>
                      </a:r>
                      <a:r>
                        <a:rPr dirty="0" sz="1000" spc="18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유출</a:t>
                      </a:r>
                      <a:r>
                        <a:rPr dirty="0" sz="1000" spc="18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정황.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216025" marR="70485" indent="-1118870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경찰청·보안언론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보도.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북한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연계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해킹으로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수사결과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발표.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2"/>
                        </a:rPr>
                        <a:t>경찰청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270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805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2022년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10월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48260" marR="36830" indent="107950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Dropbox</a:t>
                      </a:r>
                      <a:r>
                        <a:rPr dirty="0" sz="1000" spc="114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(글로벌,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한국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포함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영향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가능)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27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피싱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통한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41910" marR="27305" indent="-1905">
                        <a:lnSpc>
                          <a:spcPct val="133000"/>
                        </a:lnSpc>
                        <a:spcBef>
                          <a:spcPts val="10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소스코드·저장소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접근(공급망·개발자</a:t>
                      </a:r>
                      <a:r>
                        <a:rPr dirty="0" sz="1000" spc="10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계정 침해)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5875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694055" marR="228600" indent="-447040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GitHub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소스코드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저장소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b="1">
                          <a:latin typeface="굴림"/>
                          <a:cs typeface="굴림"/>
                        </a:rPr>
                        <a:t>약</a:t>
                      </a:r>
                      <a:r>
                        <a:rPr dirty="0" sz="1000" spc="155" b="1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b="1">
                          <a:latin typeface="굴림"/>
                          <a:cs typeface="굴림"/>
                        </a:rPr>
                        <a:t>130개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접근·유출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보고.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(직원명·이메일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등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추가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정보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유출)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27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0" marR="88900" indent="-635">
                        <a:lnSpc>
                          <a:spcPct val="1335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공식·보안매체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보도(공급망형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피싱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사례).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국내외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기업의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개발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공급망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위험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사례로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자주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인용됨.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(</a:t>
                      </a:r>
                      <a:r>
                        <a:rPr dirty="0" u="sng" sz="1000" spc="-2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3"/>
                        </a:rPr>
                        <a:t>The</a:t>
                      </a:r>
                      <a:r>
                        <a:rPr dirty="0" sz="1000" spc="-20">
                          <a:solidFill>
                            <a:srgbClr val="0000FF"/>
                          </a:solidFill>
                          <a:latin typeface="굴림"/>
                          <a:cs typeface="굴림"/>
                        </a:rPr>
                        <a:t> </a:t>
                      </a:r>
                      <a:r>
                        <a:rPr dirty="0" u="sng" sz="10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3"/>
                        </a:rPr>
                        <a:t>Hacker</a:t>
                      </a:r>
                      <a:r>
                        <a:rPr dirty="0" u="sng" sz="1000" spc="13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3"/>
                        </a:rPr>
                        <a:t> 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3"/>
                        </a:rPr>
                        <a:t>News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66675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805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2022–2023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marL="298450" marR="4445" indent="-285115">
                        <a:lnSpc>
                          <a:spcPts val="1610"/>
                        </a:lnSpc>
                        <a:spcBef>
                          <a:spcPts val="11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(연도별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발생 건)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27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국내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의료기관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다수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445770" marR="59690" indent="-373380">
                        <a:lnSpc>
                          <a:spcPct val="133000"/>
                        </a:lnSpc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랜섬웨어·정보유출(의료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정보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탈취)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905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 marR="74295" indent="-635">
                        <a:lnSpc>
                          <a:spcPct val="1335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최근</a:t>
                      </a:r>
                      <a:r>
                        <a:rPr dirty="0" sz="1000" spc="16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몇</a:t>
                      </a:r>
                      <a:r>
                        <a:rPr dirty="0" sz="1000" spc="16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년간</a:t>
                      </a:r>
                      <a:r>
                        <a:rPr dirty="0" sz="1000" spc="16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의료기관</a:t>
                      </a:r>
                      <a:r>
                        <a:rPr dirty="0" sz="1000" spc="16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b="1">
                          <a:latin typeface="굴림"/>
                          <a:cs typeface="굴림"/>
                        </a:rPr>
                        <a:t>여러십~수십</a:t>
                      </a:r>
                      <a:r>
                        <a:rPr dirty="0" sz="1000" spc="170" b="1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 b="1">
                          <a:latin typeface="굴림"/>
                          <a:cs typeface="굴림"/>
                        </a:rPr>
                        <a:t>곳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피해(예: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2021~2023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기간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의료기관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누적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사고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다수).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일부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병원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환자정보·진료기록</a:t>
                      </a:r>
                      <a:r>
                        <a:rPr dirty="0" sz="1000" spc="12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유출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보고.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6731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047115" marR="163195" indent="-858519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의료·보안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전문매체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요약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분석(의료기관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랜섬웨어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급증).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4"/>
                        </a:rPr>
                        <a:t>phum.co.kr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905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805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2024년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1월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 marR="81280" indent="-635">
                        <a:lnSpc>
                          <a:spcPct val="1335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Hyundai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Motor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Europe</a:t>
                      </a:r>
                      <a:r>
                        <a:rPr dirty="0" sz="1000" spc="12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(현대자동차 유럽권역본부)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6731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랜섬웨어(Black</a:t>
                      </a:r>
                      <a:r>
                        <a:rPr dirty="0" sz="1000" spc="9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Basta)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—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탈취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9525">
                        <a:lnSpc>
                          <a:spcPct val="100000"/>
                        </a:lnSpc>
                      </a:pPr>
                      <a:r>
                        <a:rPr dirty="0" sz="1000" b="1">
                          <a:latin typeface="굴림"/>
                          <a:cs typeface="굴림"/>
                        </a:rPr>
                        <a:t>약</a:t>
                      </a:r>
                      <a:r>
                        <a:rPr dirty="0" sz="1000" spc="155" b="1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b="1">
                          <a:latin typeface="굴림"/>
                          <a:cs typeface="굴림"/>
                        </a:rPr>
                        <a:t>3TB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기업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탈취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주장(공격자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주장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기준).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037590" marR="43180" indent="-969644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보안매체·국제보도(Black</a:t>
                      </a:r>
                      <a:r>
                        <a:rPr dirty="0" sz="1000" spc="12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Basta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그룹</a:t>
                      </a:r>
                      <a:r>
                        <a:rPr dirty="0" sz="1000" spc="12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소행으로</a:t>
                      </a:r>
                      <a:r>
                        <a:rPr dirty="0" sz="1000" spc="12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보도).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5"/>
                        </a:rPr>
                        <a:t>BleepingComputer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2540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805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2023년~202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03505" marR="94615">
                        <a:lnSpc>
                          <a:spcPts val="1610"/>
                        </a:lnSpc>
                        <a:spcBef>
                          <a:spcPts val="11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4년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(국내 보고)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국내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공공·교육기관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50">
                          <a:latin typeface="굴림"/>
                          <a:cs typeface="굴림"/>
                        </a:rPr>
                        <a:t>등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0485" marR="56515" indent="-1905">
                        <a:lnSpc>
                          <a:spcPct val="133500"/>
                        </a:lnSpc>
                        <a:spcBef>
                          <a:spcPts val="535"/>
                        </a:spcBef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대규모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악성코드/침해(공공기관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PC·서버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감염)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67945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474980" marR="151765" indent="-304800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다수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기관에서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내부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PC·서버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감염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보고(수천~수만대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규모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접속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가능성·내부망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확산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포함).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254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78510" marR="96520" indent="-657225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보안전문매체·KISA·교육청</a:t>
                      </a:r>
                      <a:r>
                        <a:rPr dirty="0" sz="1000" spc="114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관련</a:t>
                      </a:r>
                      <a:r>
                        <a:rPr dirty="0" sz="1000" spc="114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보도(공공기관</a:t>
                      </a:r>
                      <a:r>
                        <a:rPr dirty="0" sz="1000" spc="12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표적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공격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증가).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6"/>
                        </a:rPr>
                        <a:t>한국재정정보원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2540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805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2025년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4월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marL="236220" marR="76200" indent="-151130">
                        <a:lnSpc>
                          <a:spcPts val="1610"/>
                        </a:lnSpc>
                        <a:spcBef>
                          <a:spcPts val="110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(공개·수사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보도)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SK텔레콤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내부망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침해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50">
                          <a:latin typeface="굴림"/>
                          <a:cs typeface="굴림"/>
                        </a:rPr>
                        <a:t>→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36525" marR="123189" indent="-635">
                        <a:lnSpc>
                          <a:spcPct val="133000"/>
                        </a:lnSpc>
                        <a:spcBef>
                          <a:spcPts val="15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USIM/가입자 식별정보(통신식별자)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유출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7145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14935" marR="97155" indent="137160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조사결과</a:t>
                      </a:r>
                      <a:r>
                        <a:rPr dirty="0" sz="1000" spc="18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기준</a:t>
                      </a:r>
                      <a:r>
                        <a:rPr dirty="0" sz="1000" spc="18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b="1">
                          <a:latin typeface="굴림"/>
                          <a:cs typeface="굴림"/>
                        </a:rPr>
                        <a:t>약</a:t>
                      </a:r>
                      <a:r>
                        <a:rPr dirty="0" sz="1000" spc="185" b="1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b="1">
                          <a:latin typeface="굴림"/>
                          <a:cs typeface="굴림"/>
                        </a:rPr>
                        <a:t>26.96백만</a:t>
                      </a:r>
                      <a:r>
                        <a:rPr dirty="0" sz="1000" spc="190" b="1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b="1">
                          <a:latin typeface="굴림"/>
                          <a:cs typeface="굴림"/>
                        </a:rPr>
                        <a:t>건(=2,696만건,</a:t>
                      </a:r>
                      <a:r>
                        <a:rPr dirty="0" sz="1000" spc="180" b="1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 b="1">
                          <a:latin typeface="굴림"/>
                          <a:cs typeface="굴림"/>
                        </a:rPr>
                        <a:t>IMSI </a:t>
                      </a:r>
                      <a:r>
                        <a:rPr dirty="0" sz="1000" b="1">
                          <a:latin typeface="굴림"/>
                          <a:cs typeface="굴림"/>
                        </a:rPr>
                        <a:t>등)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유출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/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유출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9.82GB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등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(언론·조사단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발표).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3175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3675" marR="167005" indent="-1905">
                        <a:lnSpc>
                          <a:spcPct val="133500"/>
                        </a:lnSpc>
                        <a:spcBef>
                          <a:spcPts val="54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정부·국제언론·로이터</a:t>
                      </a:r>
                      <a:r>
                        <a:rPr dirty="0" sz="1000" spc="12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등</a:t>
                      </a:r>
                      <a:r>
                        <a:rPr dirty="0" sz="1000" spc="12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보도;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개인정보보호위·과기정통부/KISA</a:t>
                      </a:r>
                      <a:r>
                        <a:rPr dirty="0" sz="1000" spc="9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조사·징계</a:t>
                      </a:r>
                      <a:r>
                        <a:rPr dirty="0" sz="1000" spc="9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진행.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(형사·행정·과징금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사안으로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확대)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7"/>
                        </a:rPr>
                        <a:t>Reuters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68580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91052" y="370897"/>
          <a:ext cx="10315575" cy="6646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1525"/>
                <a:gridCol w="1346835"/>
                <a:gridCol w="1504950"/>
                <a:gridCol w="3425824"/>
                <a:gridCol w="3249295"/>
              </a:tblGrid>
              <a:tr h="716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시기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기관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유형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8890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굴림"/>
                          <a:cs typeface="굴림"/>
                        </a:rPr>
                        <a:t>피해규모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17780">
                        <a:lnSpc>
                          <a:spcPct val="100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관련문서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/</a:t>
                      </a:r>
                      <a:r>
                        <a:rPr dirty="0" sz="1000" spc="15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비고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  <a:tr h="716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2020년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11월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캡콤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311785" marR="297180" indent="31750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랜섬웨어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기반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서버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외부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침투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635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75920" marR="357505">
                        <a:lnSpc>
                          <a:spcPct val="133500"/>
                        </a:lnSpc>
                        <a:spcBef>
                          <a:spcPts val="17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약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1TB의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민감한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기업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탈취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주장</a:t>
                      </a:r>
                      <a:r>
                        <a:rPr dirty="0" sz="1000" spc="40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회사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관계자,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전직원,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현직원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및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거래처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정보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약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39만명의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고객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정보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유출됐을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것으로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추정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22225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313815" marR="116205" indent="-1172210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유출과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동시에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내부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네트워크와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서버를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격리하였음 </a:t>
                      </a:r>
                      <a:r>
                        <a:rPr dirty="0" sz="1000" spc="-10">
                          <a:latin typeface="굴림"/>
                          <a:cs typeface="굴림"/>
                          <a:hlinkClick r:id="rId2"/>
                        </a:rPr>
                        <a:t>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2"/>
                        </a:rPr>
                        <a:t>CAPCOM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635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974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2021년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6월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EA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8105" marR="64135" indent="327660">
                        <a:lnSpc>
                          <a:spcPct val="134000"/>
                        </a:lnSpc>
                        <a:spcBef>
                          <a:spcPts val="83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내부망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침해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(피싱/소셜</a:t>
                      </a:r>
                      <a:r>
                        <a:rPr dirty="0" sz="1000" spc="12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엔지니어링)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5400" marR="6985" indent="40640">
                        <a:lnSpc>
                          <a:spcPct val="134000"/>
                        </a:lnSpc>
                        <a:spcBef>
                          <a:spcPts val="83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FIFA21의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소스코드와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EA의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게임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엔진인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프로스트바이트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엔진의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소스가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코드를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포함하여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약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780GB의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유출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9375" marR="53975">
                        <a:lnSpc>
                          <a:spcPct val="133300"/>
                        </a:lnSpc>
                        <a:spcBef>
                          <a:spcPts val="39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언론을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통해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해킹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사실과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유출된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데이터의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종류를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공개적으로</a:t>
                      </a:r>
                      <a:r>
                        <a:rPr dirty="0" sz="1000" spc="12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인정하고,회사</a:t>
                      </a:r>
                      <a:r>
                        <a:rPr dirty="0" sz="1000" spc="12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네트워크의</a:t>
                      </a:r>
                      <a:r>
                        <a:rPr dirty="0" sz="1000" spc="12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보안을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강화하고,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직원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계정에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대한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2단계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인증(2FA)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적용을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확대하는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등의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조치를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시행.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(</a:t>
                      </a:r>
                      <a:r>
                        <a:rPr dirty="0" u="sng" sz="1000" spc="-20">
                          <a:solidFill>
                            <a:srgbClr val="800080"/>
                          </a:solidFill>
                          <a:uFill>
                            <a:solidFill>
                              <a:srgbClr val="800080"/>
                            </a:solidFill>
                          </a:uFill>
                          <a:latin typeface="굴림"/>
                          <a:cs typeface="굴림"/>
                          <a:hlinkClick r:id="rId3"/>
                        </a:rPr>
                        <a:t>EA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50165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2022년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2월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000" spc="-20">
                          <a:latin typeface="굴림"/>
                          <a:cs typeface="굴림"/>
                        </a:rPr>
                        <a:t>액티비전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06400" marR="361315" indent="-32384">
                        <a:lnSpc>
                          <a:spcPct val="134000"/>
                        </a:lnSpc>
                        <a:spcBef>
                          <a:spcPts val="73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피싱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공격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50">
                          <a:latin typeface="굴림"/>
                          <a:cs typeface="굴림"/>
                        </a:rPr>
                        <a:t>및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내부망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침해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해커들이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일부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직원의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개인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정보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14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(이름,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이메일,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전화번호,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급여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등)를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탈취하고,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4604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'콜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오브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듀티: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모던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워페어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2'와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같은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개발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중인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게임의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콘텐츠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정보와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소스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코드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일부가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유출되었음.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정확한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피해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016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인원이나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용량은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공개되지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않음.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50">
                          <a:latin typeface="굴림"/>
                          <a:cs typeface="굴림"/>
                        </a:rPr>
                        <a:t>(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0" marR="94615" indent="1270">
                        <a:lnSpc>
                          <a:spcPct val="133500"/>
                        </a:lnSpc>
                        <a:spcBef>
                          <a:spcPts val="63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공식적으로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사이버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공격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사실을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인정하고,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피해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가능성이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있는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직원들에게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개별적으로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통지하고,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피싱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공격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방어를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위한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직원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교육을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강화하고,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내부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시스템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접근에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대한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보안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프로토콜을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강화함.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4"/>
                        </a:rPr>
                        <a:t>Activision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80645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1499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2022년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7월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반다이남코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굴림"/>
                          <a:cs typeface="굴림"/>
                        </a:rPr>
                        <a:t>랜섬웨어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60325" marR="45720" indent="-635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및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내부망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침해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(BlackCat/ALPHV</a:t>
                      </a:r>
                      <a:r>
                        <a:rPr dirty="0" sz="1000" spc="7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그룹)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61950" marR="345440">
                        <a:lnSpc>
                          <a:spcPct val="133000"/>
                        </a:lnSpc>
                        <a:spcBef>
                          <a:spcPts val="88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회사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서버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및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PC의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랜섬웨어에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의해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암호화되고,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일부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기밀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유출.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016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아시아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지역(일본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제외)의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장난감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및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취미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사업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부문과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30175" marR="113664">
                        <a:lnSpc>
                          <a:spcPct val="133000"/>
                        </a:lnSpc>
                        <a:spcBef>
                          <a:spcPts val="1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관련된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고객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정보가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유출되었을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가능성이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있다고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회사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측이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밝혔으나,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정확한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피해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인원이나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용량은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공개되지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않음.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12395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184150" marR="158750">
                        <a:lnSpc>
                          <a:spcPct val="134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공격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사실을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공식적으로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인정하고,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회사의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아시아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지역(일본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제외)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장난감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및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취미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사업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부문의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88265" marR="63500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고객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정보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유출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가능성이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있음을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공개적으로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발표함.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정확한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피해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규모는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밝히지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않았지만,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투명성을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77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확보하려는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노력을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보였음.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5"/>
                        </a:rPr>
                        <a:t>Vanda</a:t>
                      </a:r>
                      <a:r>
                        <a:rPr dirty="0" sz="1000" spc="-10">
                          <a:solidFill>
                            <a:srgbClr val="0000FF"/>
                          </a:solidFill>
                          <a:latin typeface="굴림"/>
                          <a:cs typeface="굴림"/>
                        </a:rPr>
                        <a:t>i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1499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2023년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-25">
                          <a:latin typeface="굴림"/>
                          <a:cs typeface="굴림"/>
                        </a:rPr>
                        <a:t>1월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라이엇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게임즈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06400" marR="393065">
                        <a:lnSpc>
                          <a:spcPct val="134000"/>
                        </a:lnSpc>
                        <a:spcBef>
                          <a:spcPts val="62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랜섬웨어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50">
                          <a:latin typeface="굴림"/>
                          <a:cs typeface="굴림"/>
                        </a:rPr>
                        <a:t>및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내부망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침해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29845" marR="11430">
                        <a:lnSpc>
                          <a:spcPct val="134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'리그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오브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레전드(LoL)'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및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'전략적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전투(TFT)'의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소스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코드와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일부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내부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시스템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유출됨.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269240" marR="250825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회사는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유출된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데이터에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플레이어의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개인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정보는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포함되지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않았다고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밝혔음.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정확한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용량은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143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공개되지</a:t>
                      </a:r>
                      <a:r>
                        <a:rPr dirty="0" sz="1000" spc="12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않았음.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635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7470" marR="52069">
                        <a:lnSpc>
                          <a:spcPct val="133000"/>
                        </a:lnSpc>
                        <a:spcBef>
                          <a:spcPts val="894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라이엇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게임즈는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공격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발생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직후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공식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소셜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미디어를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통해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해킹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사실을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투명하게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공개함.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유출된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소스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코드를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기반으로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한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해킹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툴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개발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등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2차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41605" marR="116205">
                        <a:lnSpc>
                          <a:spcPct val="133000"/>
                        </a:lnSpc>
                        <a:spcBef>
                          <a:spcPts val="1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피해를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막기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위해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게임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내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보안을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강화하고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시스템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복구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작업을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진행함.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6"/>
                        </a:rPr>
                        <a:t>Rio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</a:rPr>
                        <a:t>t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91052" y="375462"/>
          <a:ext cx="10315575" cy="3749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1525"/>
                <a:gridCol w="1346835"/>
                <a:gridCol w="1504950"/>
                <a:gridCol w="3425824"/>
                <a:gridCol w="3249295"/>
              </a:tblGrid>
              <a:tr h="71691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2023년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11월(2024년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2월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통지)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7239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83185" marR="71755" indent="115570">
                        <a:lnSpc>
                          <a:spcPct val="133000"/>
                        </a:lnSpc>
                        <a:spcBef>
                          <a:spcPts val="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인섬니악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게임즈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(Insomniac</a:t>
                      </a:r>
                      <a:r>
                        <a:rPr dirty="0" sz="1000" spc="9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Games)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469900" marR="48895" indent="-408940">
                        <a:lnSpc>
                          <a:spcPct val="133000"/>
                        </a:lnSpc>
                        <a:spcBef>
                          <a:spcPts val="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랜섬웨어(Rhysida)</a:t>
                      </a:r>
                      <a:r>
                        <a:rPr dirty="0" sz="1000" spc="9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기반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외부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침입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해커가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약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130만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이상의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파일(~1.3M)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탈취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주장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marL="2063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1.67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TB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분량의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다크웹에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공개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또는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유출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6985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890269" marR="187960" indent="-676910">
                        <a:lnSpc>
                          <a:spcPct val="133000"/>
                        </a:lnSpc>
                        <a:spcBef>
                          <a:spcPts val="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인섬니악은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2024년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2월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피해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사실을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직원들에게 통보(.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2"/>
                        </a:rPr>
                        <a:t>BleepingComputer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2024년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6월(2024년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7월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공지)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86995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25120">
                        <a:lnSpc>
                          <a:spcPct val="100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Roll20,</a:t>
                      </a:r>
                      <a:r>
                        <a:rPr dirty="0" sz="1000" spc="12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LLC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69900" marR="106680" indent="-349250">
                        <a:lnSpc>
                          <a:spcPct val="134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외부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침입자가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관리자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계정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탈취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381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9695" marR="81915" indent="10160">
                        <a:lnSpc>
                          <a:spcPct val="134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외부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침입자가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관리자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계정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탈취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사용자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계정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열람,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수정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/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사용자의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이름.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이메일.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IP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주소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등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유출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가능성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381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75715" marR="180340" indent="-1069975">
                        <a:lnSpc>
                          <a:spcPct val="134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서비스는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즉시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복구되었으나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사용자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암호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재설정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권고(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3"/>
                        </a:rPr>
                        <a:t>Roll20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3810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860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2024년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6월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KADOKAWA</a:t>
                      </a:r>
                      <a:r>
                        <a:rPr dirty="0" sz="1000" spc="10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50">
                          <a:latin typeface="굴림"/>
                          <a:cs typeface="굴림"/>
                        </a:rPr>
                        <a:t>/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Niconico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랜섬웨어(BlackSuit)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약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1.5</a:t>
                      </a:r>
                      <a:r>
                        <a:rPr dirty="0" sz="1000" spc="15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TB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전체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데이터</a:t>
                      </a:r>
                      <a:r>
                        <a:rPr dirty="0" sz="1000" spc="15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탈취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4135" marR="38735">
                        <a:lnSpc>
                          <a:spcPct val="133500"/>
                        </a:lnSpc>
                        <a:spcBef>
                          <a:spcPts val="74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Kyodo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News는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약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300만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달러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상당의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암호화폐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몸값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지급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정황을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보도.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Niconico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서비스는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두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달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가까이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중단됨(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4"/>
                        </a:rPr>
                        <a:t>KADOKAWA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93980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71691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2024년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8월(2024년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10월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발표)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7366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28905" marR="115570" indent="176530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Game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Freak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(Pokémon</a:t>
                      </a:r>
                      <a:r>
                        <a:rPr dirty="0" sz="1000" spc="11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개발사)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27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327025" marR="7620" indent="-306705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Microsoft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365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계정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외부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불법접속(해킹)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27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10160">
                        <a:lnSpc>
                          <a:spcPct val="100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전·현직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직원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2,606명의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개인정보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유출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43840" marR="35560" indent="-182880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Game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Freak은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2024년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10월에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사건을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공식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발표하고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피해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직원들에게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개별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통보(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5"/>
                        </a:rPr>
                        <a:t>BleepingComputer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1270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BABABA"/>
                      </a:solidFill>
                      <a:prstDash val="solid"/>
                    </a:lnB>
                  </a:tcPr>
                </a:tc>
              </a:tr>
              <a:tr h="71247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2025년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-10">
                          <a:latin typeface="굴림"/>
                          <a:cs typeface="굴림"/>
                        </a:rPr>
                        <a:t>2월(2025년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3월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발표)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7112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02260" marR="149860" indent="-142240">
                        <a:lnSpc>
                          <a:spcPct val="133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WEMIX</a:t>
                      </a:r>
                      <a:r>
                        <a:rPr dirty="0" sz="1000" spc="13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(블록체인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게임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플랫폼)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635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인증</a:t>
                      </a:r>
                      <a:r>
                        <a:rPr dirty="0" sz="1000" spc="15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키</a:t>
                      </a:r>
                      <a:r>
                        <a:rPr dirty="0" sz="1000" spc="15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탈취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8,654,860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WEMIX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토큰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탈취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→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당시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시세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기준으로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50">
                          <a:latin typeface="굴림"/>
                          <a:cs typeface="굴림"/>
                        </a:rPr>
                        <a:t>약</a:t>
                      </a:r>
                      <a:endParaRPr sz="1000">
                        <a:latin typeface="굴림"/>
                        <a:cs typeface="굴림"/>
                      </a:endParaRPr>
                    </a:p>
                    <a:p>
                      <a:pPr algn="ctr" marL="88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6,100,000</a:t>
                      </a:r>
                      <a:r>
                        <a:rPr dirty="0" sz="1000" spc="13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USD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(약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6백만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달러)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상당의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손실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5080">
                    <a:lnL w="6350">
                      <a:solidFill>
                        <a:srgbClr val="BABABA"/>
                      </a:solidFill>
                      <a:prstDash val="solid"/>
                    </a:lnL>
                    <a:lnR w="6350">
                      <a:solidFill>
                        <a:srgbClr val="BABABA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8270" marR="102235">
                        <a:lnSpc>
                          <a:spcPct val="133500"/>
                        </a:lnSpc>
                        <a:spcBef>
                          <a:spcPts val="160"/>
                        </a:spcBef>
                      </a:pPr>
                      <a:r>
                        <a:rPr dirty="0" sz="1000">
                          <a:latin typeface="굴림"/>
                          <a:cs typeface="굴림"/>
                        </a:rPr>
                        <a:t>WEMIX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측은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해킹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당일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즉시</a:t>
                      </a:r>
                      <a:r>
                        <a:rPr dirty="0" sz="1000" spc="14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관련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서버를</a:t>
                      </a:r>
                      <a:r>
                        <a:rPr dirty="0" sz="1000" spc="145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0">
                          <a:latin typeface="굴림"/>
                          <a:cs typeface="굴림"/>
                        </a:rPr>
                        <a:t>차단하고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수사</a:t>
                      </a:r>
                      <a:r>
                        <a:rPr dirty="0" sz="1000" spc="12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기관(서울지방경찰청</a:t>
                      </a:r>
                      <a:r>
                        <a:rPr dirty="0" sz="1000" spc="12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>
                          <a:latin typeface="굴림"/>
                          <a:cs typeface="굴림"/>
                        </a:rPr>
                        <a:t>사이버수사대)에</a:t>
                      </a:r>
                      <a:r>
                        <a:rPr dirty="0" sz="1000" spc="120">
                          <a:latin typeface="굴림"/>
                          <a:cs typeface="굴림"/>
                        </a:rPr>
                        <a:t> </a:t>
                      </a:r>
                      <a:r>
                        <a:rPr dirty="0" sz="1000" spc="-25">
                          <a:latin typeface="굴림"/>
                          <a:cs typeface="굴림"/>
                        </a:rPr>
                        <a:t>신고를 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진행(</a:t>
                      </a:r>
                      <a:r>
                        <a:rPr dirty="0" u="sng" sz="10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굴림"/>
                          <a:cs typeface="굴림"/>
                          <a:hlinkClick r:id="rId6"/>
                        </a:rPr>
                        <a:t>WEMIX</a:t>
                      </a:r>
                      <a:r>
                        <a:rPr dirty="0" sz="1000" spc="-10">
                          <a:latin typeface="굴림"/>
                          <a:cs typeface="굴림"/>
                        </a:rPr>
                        <a:t>)</a:t>
                      </a:r>
                      <a:endParaRPr sz="1000">
                        <a:latin typeface="굴림"/>
                        <a:cs typeface="굴림"/>
                      </a:endParaRPr>
                    </a:p>
                  </a:txBody>
                  <a:tcPr marL="0" marR="0" marB="0" marT="20320">
                    <a:lnL w="6350">
                      <a:solidFill>
                        <a:srgbClr val="BABAB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ABABA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</ep:Words>
  <ep:PresentationFormat>On-screen Show (4:3)</ep:PresentationFormat>
  <ep:Paragraphs>4</ep:Paragraphs>
  <ep:Slides>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ep:HeadingPairs>
  <ep:TitlesOfParts>
    <vt:vector size="5" baseType="lpstr">
      <vt:lpstr>Office Theme</vt:lpstr>
      <vt:lpstr>보안사고 사례 조사</vt:lpstr>
      <vt:lpstr>슬라이드 2</vt:lpstr>
      <vt:lpstr>슬라이드 3</vt:lpstr>
      <vt:lpstr>슬라이드 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2025-09-19T05:02:36.000</dcterms:created>
  <dc:creator>User</dc:creator>
  <cp:lastModifiedBy>박승한</cp:lastModifiedBy>
  <dcterms:modified xsi:type="dcterms:W3CDTF">2025-09-19T05:05:14.824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